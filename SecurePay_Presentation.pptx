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4857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SecurePay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Digital Wallet 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Computing Problem - Network Security &amp; Information Assurance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3383280"/>
            <a:ext cx="6400800" cy="1097280"/>
          </a:xfrm>
          <a:prstGeom prst="roundRect">
            <a:avLst>
              <a:gd name="adj" fmla="val 6667"/>
            </a:avLst>
          </a:prstGeom>
          <a:solidFill>
            <a:srgbClr val="111122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63040" y="35661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Haseeb Sajid   </a:t>
            </a: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F2024CY018   </a:t>
            </a: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39776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Sir M Azeem Afzal  |  NASTP Institute of Information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— 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SecurePay: What It Is &amp; How It's Built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389120" cy="3474720"/>
          </a:xfrm>
          <a:prstGeom prst="roundRect">
            <a:avLst>
              <a:gd name="adj" fmla="val 2105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SecurePay?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digital wallet platform built to demonstrate real-world cybersecurity vulnerabilities and their fixes.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Phases:
</a:t>
            </a: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Vulnerable version with attack demos
Phase 2 — Secure version with countermeasures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
</a:t>
            </a: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HTML5 + Tailwind CSS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Node.js + Express.js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MongoDB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JWT + bcrypt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4221DFF-60A5-7586-353A-F1BC67EC0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203" y="2100349"/>
            <a:ext cx="3706037" cy="20370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— Threat &amp; Risk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 — and how bad is it?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206240" cy="758952"/>
          </a:xfrm>
          <a:prstGeom prst="roundRect">
            <a:avLst>
              <a:gd name="adj" fmla="val 9639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5488" y="1444752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FF4D6D">
              <a:alpha val="25000"/>
            </a:srgbClr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4447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54480" y="133502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Sniffing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168249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HTTPS / TLS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30552"/>
            <a:ext cx="4206240" cy="758952"/>
          </a:xfrm>
          <a:prstGeom prst="roundRect">
            <a:avLst>
              <a:gd name="adj" fmla="val 9639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" y="2295144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FF4D6D">
              <a:alpha val="25000"/>
            </a:srgbClr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229514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54480" y="2185416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Login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25328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Rate limiting + lockout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80944"/>
            <a:ext cx="4206240" cy="758952"/>
          </a:xfrm>
          <a:prstGeom prst="roundRect">
            <a:avLst>
              <a:gd name="adj" fmla="val 9639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" y="3145536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FF4D6D">
              <a:alpha val="25000"/>
            </a:srgbClr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314553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54480" y="303580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 Attack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33832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HTTPS encryption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831336"/>
            <a:ext cx="4206240" cy="758952"/>
          </a:xfrm>
          <a:prstGeom prst="roundRect">
            <a:avLst>
              <a:gd name="adj" fmla="val 9639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" y="3995928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FFD60A">
              <a:alpha val="25000"/>
            </a:srgbClr>
          </a:solidFill>
          <a:ln w="12700">
            <a:solidFill>
              <a:srgbClr val="FFD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" y="399592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54480" y="388620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Injection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554480" y="42336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Input sanitization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1280160"/>
            <a:ext cx="4206240" cy="758952"/>
          </a:xfrm>
          <a:prstGeom prst="roundRect">
            <a:avLst>
              <a:gd name="adj" fmla="val 9639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956048" y="1444752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FFD60A">
              <a:alpha val="25000"/>
            </a:srgbClr>
          </a:solidFill>
          <a:ln w="12700">
            <a:solidFill>
              <a:srgbClr val="FFD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56048" y="14447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35040" y="133502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0" y="168249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Server-side auth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2130552"/>
            <a:ext cx="4206240" cy="758952"/>
          </a:xfrm>
          <a:prstGeom prst="roundRect">
            <a:avLst>
              <a:gd name="adj" fmla="val 9639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56048" y="2295144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FFD60A">
              <a:alpha val="25000"/>
            </a:srgbClr>
          </a:solidFill>
          <a:ln w="12700">
            <a:solidFill>
              <a:srgbClr val="FFD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56048" y="229514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35040" y="2185416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Exposed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035040" y="25328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Firewall + DB auth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— Attack Demos (Part 1)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performed on the vulnerable version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88720" y="13716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Sniffing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7556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Wireshark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plain-text credentials &amp; JWT tokens over HTTP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60604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188720" y="26060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Login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29900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Custom Python Script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3246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Cracked password in under 5 seconds with a 15-word list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84048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188720" y="38404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 Attack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42245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Wireshark + curl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88720" y="4480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 JWT token mid-session and replayed it to hijack the account</a:t>
            </a:r>
            <a:endParaRPr lang="en-US" sz="11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29DAB04-2F76-3B1B-ABA3-F0D05E79B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851795"/>
            <a:ext cx="3474719" cy="195453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6D701A9-13F5-4BD4-CEC2-3217D9CED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960370"/>
            <a:ext cx="3474720" cy="19545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— Attack Demos (Part 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vulnerabilities exposed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88720" y="13716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Port Scan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7556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Nmap + mongosh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port 27017 exposed — all user records retrieved without auth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60604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188720" y="26060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Injection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29900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Browser + JavaScript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3246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XSS script fired for every user visiting the dashboard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4480560" cy="1097280"/>
          </a:xfrm>
          <a:prstGeom prst="roundRect">
            <a:avLst>
              <a:gd name="adj" fmla="val 6667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840480"/>
            <a:ext cx="594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188720" y="38404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Attack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42245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curl + JWT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88720" y="4480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another user's full transaction history using only their userId</a:t>
            </a:r>
            <a:endParaRPr lang="en-US" sz="11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334148F-B480-3B69-A75E-BB18561B2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132" y="822960"/>
            <a:ext cx="3576319" cy="201168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97929F3-E495-21E4-E08D-644EF418E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6132" y="2880360"/>
            <a:ext cx="357632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— Security Controls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After: How each vulnerability was fixed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89120" y="1234440"/>
            <a:ext cx="4389120" cy="384048"/>
          </a:xfrm>
          <a:prstGeom prst="roundRect">
            <a:avLst>
              <a:gd name="adj" fmla="val 19048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6280" y="126187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 Applied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691640"/>
            <a:ext cx="3931920" cy="420624"/>
          </a:xfrm>
          <a:prstGeom prst="roundRect">
            <a:avLst>
              <a:gd name="adj" fmla="val 1739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89120" y="1691640"/>
            <a:ext cx="4389120" cy="420624"/>
          </a:xfrm>
          <a:prstGeom prst="roundRect">
            <a:avLst>
              <a:gd name="adj" fmla="val 17391"/>
            </a:avLst>
          </a:prstGeom>
          <a:solidFill>
            <a:srgbClr val="1A1A2E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746504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passwords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1746504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bcrypt hashing (12 rounds)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3931920" cy="420624"/>
          </a:xfrm>
          <a:prstGeom prst="roundRect">
            <a:avLst>
              <a:gd name="adj" fmla="val 17391"/>
            </a:avLst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89120" y="2194560"/>
            <a:ext cx="4389120" cy="420624"/>
          </a:xfrm>
          <a:prstGeom prst="roundRect">
            <a:avLst>
              <a:gd name="adj" fmla="val 17391"/>
            </a:avLst>
          </a:prstGeom>
          <a:solidFill>
            <a:srgbClr val="10102A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249424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login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26280" y="2249424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Rate limiting + 15-min lockout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697480"/>
            <a:ext cx="3931920" cy="420624"/>
          </a:xfrm>
          <a:prstGeom prst="roundRect">
            <a:avLst>
              <a:gd name="adj" fmla="val 1739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89120" y="2697480"/>
            <a:ext cx="4389120" cy="420624"/>
          </a:xfrm>
          <a:prstGeom prst="roundRect">
            <a:avLst>
              <a:gd name="adj" fmla="val 17391"/>
            </a:avLst>
          </a:prstGeom>
          <a:solidFill>
            <a:srgbClr val="1A1A2E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752344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injection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26280" y="2752344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express-validator + Helmet CSP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200400"/>
            <a:ext cx="3931920" cy="420624"/>
          </a:xfrm>
          <a:prstGeom prst="roundRect">
            <a:avLst>
              <a:gd name="adj" fmla="val 17391"/>
            </a:avLst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89120" y="3200400"/>
            <a:ext cx="4389120" cy="420624"/>
          </a:xfrm>
          <a:prstGeom prst="roundRect">
            <a:avLst>
              <a:gd name="adj" fmla="val 17391"/>
            </a:avLst>
          </a:prstGeom>
          <a:solidFill>
            <a:srgbClr val="10102A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3255264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data leak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26280" y="3255264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JWT req.user._id ownership check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703320"/>
            <a:ext cx="3931920" cy="420624"/>
          </a:xfrm>
          <a:prstGeom prst="roundRect">
            <a:avLst>
              <a:gd name="adj" fmla="val 1739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389120" y="3703320"/>
            <a:ext cx="4389120" cy="420624"/>
          </a:xfrm>
          <a:prstGeom prst="roundRect">
            <a:avLst>
              <a:gd name="adj" fmla="val 17391"/>
            </a:avLst>
          </a:prstGeom>
          <a:solidFill>
            <a:srgbClr val="1A1A2E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3758184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sniffing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26280" y="3758184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HTTPS / TLS certificate enforced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206240"/>
            <a:ext cx="3931920" cy="420624"/>
          </a:xfrm>
          <a:prstGeom prst="roundRect">
            <a:avLst>
              <a:gd name="adj" fmla="val 17391"/>
            </a:avLst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389120" y="4206240"/>
            <a:ext cx="4389120" cy="420624"/>
          </a:xfrm>
          <a:prstGeom prst="roundRect">
            <a:avLst>
              <a:gd name="adj" fmla="val 17391"/>
            </a:avLst>
          </a:prstGeom>
          <a:solidFill>
            <a:srgbClr val="10102A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4261104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exposed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26280" y="4261104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Firewall rules + DB authentication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— Results &amp; Takeaways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from building and breaking SecurePay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1A1A2E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 Found &amp; Fixed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1A1A2E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29844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91840" y="1965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Crack Time (Vulnerable)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1A1A2E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129844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1965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Encrypted After Fix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606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3035808"/>
            <a:ext cx="8412480" cy="420624"/>
          </a:xfrm>
          <a:prstGeom prst="roundRect">
            <a:avLst>
              <a:gd name="adj" fmla="val 1739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09067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2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visually professional app can hide critical vulnerabilities — security is invisible until broken.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529584"/>
            <a:ext cx="8412480" cy="420624"/>
          </a:xfrm>
          <a:prstGeom prst="roundRect">
            <a:avLst>
              <a:gd name="adj" fmla="val 17391"/>
            </a:avLst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5844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2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HTTPS/TLS is the single most impactful control — it neutralizes sniffing, MITM, and token theft at once.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8412480" cy="420624"/>
          </a:xfrm>
          <a:prstGeom prst="roundRect">
            <a:avLst>
              <a:gd name="adj" fmla="val 1739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0782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2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stops brute force in seconds; without it, any password is crackable.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517136"/>
            <a:ext cx="8412480" cy="420624"/>
          </a:xfrm>
          <a:prstGeom prst="roundRect">
            <a:avLst>
              <a:gd name="adj" fmla="val 17391"/>
            </a:avLst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5720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200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validation is mandatory — never trust the client for access control (IDOR lesson).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Assurance — CIA Triad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SecurePay protects Confidentiality, Integrity &amp; Availability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834640" cy="3657600"/>
          </a:xfrm>
          <a:prstGeom prst="roundRect">
            <a:avLst>
              <a:gd name="adj" fmla="val 258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23444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C1C2E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208" y="1901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bcrypt hashing (12 rounds)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51176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C1C2E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1208" y="2606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HTTPS/TLS encryption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C1C2E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1208" y="3310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JWT authentication on all routes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C1C2E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208" y="401421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httpOnly cookies — no JS token access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1234440"/>
            <a:ext cx="2834640" cy="3657600"/>
          </a:xfrm>
          <a:prstGeom prst="roundRect">
            <a:avLst>
              <a:gd name="adj" fmla="val 258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37560" y="123444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896">
              <a:alpha val="30000"/>
            </a:srgbClr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37560" y="123444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383280" y="1847088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C1C2E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47288" y="1901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Server-side amount validation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2551176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C1C2E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47288" y="2606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Input sanitization + CSP headers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3255264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C1C2E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47288" y="3310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HTTPS prevents in-transit changes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83280" y="3959352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C1C2E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47288" y="401421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Role-based access control (RBAC)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1234440"/>
            <a:ext cx="2834640" cy="3657600"/>
          </a:xfrm>
          <a:prstGeom prst="roundRect">
            <a:avLst>
              <a:gd name="adj" fmla="val 258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63640" y="123444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FFD60A">
              <a:alpha val="30000"/>
            </a:srgbClr>
          </a:solidFill>
          <a:ln w="12700">
            <a:solidFill>
              <a:srgbClr val="FFD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63640" y="123444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09360" y="1847088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C1C2E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73368" y="19019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Rate limiting (100 req/15 min)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2551176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C1C2E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73368" y="2606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10MB payload cap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09360" y="3255264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C1C2E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73368" y="3310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Paginated DB queries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09360" y="3959352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1C1C2E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73368" y="401421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 transfers/min max per IP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Assurance — ISO 27001 &amp; Risk Management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9372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mapping and risk register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27001:2022 Controls Mapped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4389120" cy="429768"/>
          </a:xfrm>
          <a:prstGeom prst="roundRect">
            <a:avLst>
              <a:gd name="adj" fmla="val 1702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728216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28216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Transfer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1728216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HTTPS/TLS for all traffic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67128"/>
            <a:ext cx="4389120" cy="429768"/>
          </a:xfrm>
          <a:prstGeom prst="roundRect">
            <a:avLst>
              <a:gd name="adj" fmla="val 17021"/>
            </a:avLst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231136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231136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Info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231136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account lockout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70048"/>
            <a:ext cx="4389120" cy="429768"/>
          </a:xfrm>
          <a:prstGeom prst="roundRect">
            <a:avLst>
              <a:gd name="adj" fmla="val 1702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734056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734056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2734056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httpOnly cookies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172968"/>
            <a:ext cx="4389120" cy="429768"/>
          </a:xfrm>
          <a:prstGeom prst="roundRect">
            <a:avLst>
              <a:gd name="adj" fmla="val 17021"/>
            </a:avLst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236976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236976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Anti-Malware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3236976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sanitization + CSP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675888"/>
            <a:ext cx="4389120" cy="429768"/>
          </a:xfrm>
          <a:prstGeom prst="roundRect">
            <a:avLst>
              <a:gd name="adj" fmla="val 1702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739896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3739896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3739896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3-file audit trail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178808"/>
            <a:ext cx="4389120" cy="429768"/>
          </a:xfrm>
          <a:prstGeom prst="roundRect">
            <a:avLst>
              <a:gd name="adj" fmla="val 17021"/>
            </a:avLst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4242816"/>
            <a:ext cx="640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" y="4242816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51760" y="4242816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+ TLS + 256-bit JWT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12618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— Top Risks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029200" y="1664208"/>
            <a:ext cx="3749040" cy="429768"/>
          </a:xfrm>
          <a:prstGeom prst="roundRect">
            <a:avLst>
              <a:gd name="adj" fmla="val 1702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38928" y="1728216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Theft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79792" y="172821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25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79792" y="192024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4D6D">
              <a:alpha val="30000"/>
            </a:srgbClr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479792" y="19202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0" y="2167128"/>
            <a:ext cx="3749040" cy="429768"/>
          </a:xfrm>
          <a:prstGeom prst="roundRect">
            <a:avLst>
              <a:gd name="adj" fmla="val 1702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138928" y="2231136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79792" y="223113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20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79792" y="242316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4D6D">
              <a:alpha val="30000"/>
            </a:srgbClr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479792" y="24231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0" y="2670048"/>
            <a:ext cx="3749040" cy="429768"/>
          </a:xfrm>
          <a:prstGeom prst="roundRect">
            <a:avLst>
              <a:gd name="adj" fmla="val 1702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138928" y="2734056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 Attack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479792" y="273405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20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79792" y="292608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4D6D">
              <a:alpha val="30000"/>
            </a:srgbClr>
          </a:solidFill>
          <a:ln w="12700">
            <a:solidFill>
              <a:srgbClr val="FF4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479792" y="29260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0" y="3172968"/>
            <a:ext cx="3749040" cy="429768"/>
          </a:xfrm>
          <a:prstGeom prst="roundRect">
            <a:avLst>
              <a:gd name="adj" fmla="val 1702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138928" y="3236976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Injection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479792" y="323697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16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479792" y="342900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D60A">
              <a:alpha val="30000"/>
            </a:srgbClr>
          </a:solidFill>
          <a:ln w="12700">
            <a:solidFill>
              <a:srgbClr val="FFD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479792" y="342900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029200" y="3675888"/>
            <a:ext cx="3749040" cy="429768"/>
          </a:xfrm>
          <a:prstGeom prst="roundRect">
            <a:avLst>
              <a:gd name="adj" fmla="val 1702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138928" y="3739896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Exposure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479792" y="373989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15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479792" y="393192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D60A">
              <a:alpha val="30000"/>
            </a:srgbClr>
          </a:solidFill>
          <a:ln w="12700">
            <a:solidFill>
              <a:srgbClr val="FFD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479792" y="39319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029200" y="4178808"/>
            <a:ext cx="3749040" cy="429768"/>
          </a:xfrm>
          <a:prstGeom prst="roundRect">
            <a:avLst>
              <a:gd name="adj" fmla="val 17021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138928" y="4242816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479792" y="424281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12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479792" y="443484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FD60A">
              <a:alpha val="30000"/>
            </a:srgbClr>
          </a:solidFill>
          <a:ln w="12700">
            <a:solidFill>
              <a:srgbClr val="FFD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479792" y="44348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Assurance - 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52055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layers working together to protect SecurePay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297680" cy="768096"/>
          </a:xfrm>
          <a:prstGeom prst="roundRect">
            <a:avLst>
              <a:gd name="adj" fmla="val 9524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435608"/>
            <a:ext cx="548640" cy="384048"/>
          </a:xfrm>
          <a:prstGeom prst="roundRect">
            <a:avLst>
              <a:gd name="adj" fmla="val 11905"/>
            </a:avLst>
          </a:prstGeom>
          <a:solidFill>
            <a:srgbClr val="00D4FF">
              <a:alpha val="22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43560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9848" y="1316736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Encryption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9848" y="1691640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TLS  |  Sniffing, MITM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157984"/>
            <a:ext cx="4297680" cy="768096"/>
          </a:xfrm>
          <a:prstGeom prst="roundRect">
            <a:avLst>
              <a:gd name="adj" fmla="val 9524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2331720"/>
            <a:ext cx="548640" cy="384048"/>
          </a:xfrm>
          <a:prstGeom prst="roundRect">
            <a:avLst>
              <a:gd name="adj" fmla="val 11905"/>
            </a:avLst>
          </a:prstGeom>
          <a:solidFill>
            <a:srgbClr val="00D4FF">
              <a:alpha val="22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33172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9848" y="2212848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9848" y="2587752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express-rate-limit  |  Brute force, DoS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054096"/>
            <a:ext cx="4297680" cy="768096"/>
          </a:xfrm>
          <a:prstGeom prst="roundRect">
            <a:avLst>
              <a:gd name="adj" fmla="val 9524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3227832"/>
            <a:ext cx="548640" cy="384048"/>
          </a:xfrm>
          <a:prstGeom prst="roundRect">
            <a:avLst>
              <a:gd name="adj" fmla="val 11905"/>
            </a:avLst>
          </a:prstGeom>
          <a:solidFill>
            <a:srgbClr val="00D4FF">
              <a:alpha val="22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22783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69848" y="3108960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9848" y="3483864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 |  Unauthorized access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950208"/>
            <a:ext cx="4297680" cy="768096"/>
          </a:xfrm>
          <a:prstGeom prst="roundRect">
            <a:avLst>
              <a:gd name="adj" fmla="val 9524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4123944"/>
            <a:ext cx="548640" cy="384048"/>
          </a:xfrm>
          <a:prstGeom prst="roundRect">
            <a:avLst>
              <a:gd name="adj" fmla="val 11905"/>
            </a:avLst>
          </a:prstGeom>
          <a:solidFill>
            <a:srgbClr val="00D4FF">
              <a:alpha val="22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4123944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9848" y="4005072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69848" y="437997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JWT ownership  |  IDOR, privilege escalation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1261872"/>
            <a:ext cx="4297680" cy="768096"/>
          </a:xfrm>
          <a:prstGeom prst="roundRect">
            <a:avLst>
              <a:gd name="adj" fmla="val 9524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92040" y="1435608"/>
            <a:ext cx="548640" cy="384048"/>
          </a:xfrm>
          <a:prstGeom prst="roundRect">
            <a:avLst>
              <a:gd name="adj" fmla="val 11905"/>
            </a:avLst>
          </a:prstGeom>
          <a:solidFill>
            <a:srgbClr val="00D4FF">
              <a:alpha val="22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143560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50408" y="1316736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50408" y="1691640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express-validator  |  XSS, injection attacks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2157984"/>
            <a:ext cx="4297680" cy="768096"/>
          </a:xfrm>
          <a:prstGeom prst="roundRect">
            <a:avLst>
              <a:gd name="adj" fmla="val 9524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92040" y="2331720"/>
            <a:ext cx="548640" cy="384048"/>
          </a:xfrm>
          <a:prstGeom prst="roundRect">
            <a:avLst>
              <a:gd name="adj" fmla="val 11905"/>
            </a:avLst>
          </a:prstGeom>
          <a:solidFill>
            <a:srgbClr val="00D4FF">
              <a:alpha val="22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92040" y="233172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50408" y="2212848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50408" y="2587752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Helmet.js  |  Clickjacking, MIME sniffing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054096"/>
            <a:ext cx="4297680" cy="768096"/>
          </a:xfrm>
          <a:prstGeom prst="roundRect">
            <a:avLst>
              <a:gd name="adj" fmla="val 9524"/>
            </a:avLst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92040" y="3227832"/>
            <a:ext cx="548640" cy="384048"/>
          </a:xfrm>
          <a:prstGeom prst="roundRect">
            <a:avLst>
              <a:gd name="adj" fmla="val 11905"/>
            </a:avLst>
          </a:prstGeom>
          <a:solidFill>
            <a:srgbClr val="00D4FF">
              <a:alpha val="22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92040" y="322783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50408" y="3108960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Monitoring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550408" y="3483864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logger  |  Attack detection, audit trail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3950208"/>
            <a:ext cx="4297680" cy="768096"/>
          </a:xfrm>
          <a:prstGeom prst="roundRect">
            <a:avLst>
              <a:gd name="adj" fmla="val 9524"/>
            </a:avLst>
          </a:prstGeom>
          <a:solidFill>
            <a:srgbClr val="10102A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92040" y="40416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Requirements: ACHIEVED 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892040" y="44074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triad, ISO 27001 controls, risk register, defense-in-depth — all implemented.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810</Words>
  <Application>Microsoft Office PowerPoint</Application>
  <PresentationFormat>On-screen Show (16:9)</PresentationFormat>
  <Paragraphs>182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SecurePay - CCP Presentation</dc:title>
  <dc:subject>PptxGenJS Presentation</dc:subject>
  <dc:creator>PptxGenJS</dc:creator>
  <cp:lastModifiedBy>Muhammad Haseeb Sajid</cp:lastModifiedBy>
  <cp:revision>2</cp:revision>
  <dcterms:created xsi:type="dcterms:W3CDTF">2026-06-10T06:28:37Z</dcterms:created>
  <dcterms:modified xsi:type="dcterms:W3CDTF">2026-06-10T06:43:14Z</dcterms:modified>
</cp:coreProperties>
</file>